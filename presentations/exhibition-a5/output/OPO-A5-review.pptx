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1c9b8aa327450e" /><Relationship Type="http://schemas.openxmlformats.org/officeDocument/2006/relationships/extended-properties" Target="/docProps/app.xml" Id="R74d84c162e074acc" /><Relationship Type="http://schemas.openxmlformats.org/officeDocument/2006/relationships/officeDocument" Target="/ppt/presentation.xml" Id="Rff403054e8b4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aa3767cc96446e"/>
  </p:sldMasterIdLst>
  <p:notesMasterIdLst>
    <p:notesMasterId xmlns:r="http://schemas.openxmlformats.org/officeDocument/2006/relationships" r:id="R81338089fe4e4559"/>
  </p:notesMasterIdLst>
  <p:sldIdLst>
    <p:sldId xmlns:r="http://schemas.openxmlformats.org/officeDocument/2006/relationships" id="256" r:id="R8ab9ca78c84b4ec1"/>
    <p:sldId xmlns:r="http://schemas.openxmlformats.org/officeDocument/2006/relationships" id="257" r:id="R7f35e85ef7064ddb"/>
  </p:sldIdLst>
  <p:sldSz cx="5328000" cy="7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5b628afb544b73" /><Relationship Type="http://schemas.openxmlformats.org/officeDocument/2006/relationships/slideMaster" Target="/ppt/slideMasters/slideMaster1.xml" Id="R95aa3767cc96446e" /><Relationship Type="http://schemas.openxmlformats.org/officeDocument/2006/relationships/notesMaster" Target="/ppt/notesMasters/notesMaster1.xml" Id="R81338089fe4e4559" /><Relationship Type="http://schemas.openxmlformats.org/officeDocument/2006/relationships/presProps" Target="/ppt/presProps.xml" Id="R7213b1afad5f470c" /><Relationship Type="http://schemas.openxmlformats.org/officeDocument/2006/relationships/tableStyles" Target="/ppt/tableStyles.xml" Id="R42138857d0b94171" /><Relationship Type="http://schemas.openxmlformats.org/officeDocument/2006/relationships/slide" Target="/ppt/slides/slide1.xml" Id="R8ab9ca78c84b4ec1" /><Relationship Type="http://schemas.openxmlformats.org/officeDocument/2006/relationships/slide" Target="/ppt/slides/slide2.xml" Id="R7f35e85ef706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ad6351c4d46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6a7f6a4800496f" /><Relationship Type="http://schemas.openxmlformats.org/officeDocument/2006/relationships/notesMaster" Target="/ppt/notesMasters/notesMaster1.xml" Id="R17e8cc3d7f3a4c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1c2b78ad664987" /><Relationship Type="http://schemas.openxmlformats.org/officeDocument/2006/relationships/notesMaster" Target="/ppt/notesMasters/notesMaster1.xml" Id="R4b108b8555e5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предоставленный заказчиком скриншот таблицы для предприятий. Суммы сохранены из исходника; перед печатью подтвердить, что это стоимость услуг, а не величина скидки. Иллюстрации созданы с помощью image_gen и изображают условные объекты, не реальные проекты НПИ «Недра». Оригинальные логотипы взяты из репозиториев компаний. QR: https://nedra-npi.ru и https://plus-resurs.com. Формат А5 148 × 210 мм, сторона 1 из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предоставленный заказчиком скриншот таблицы для предприятий. Суммы сохранены из исходника; перед печатью подтвердить, что это стоимость услуг, а не величина скидки. Иллюстрации созданы с помощью image_gen и изображают условные объекты, не реальные проекты НПИ «Недра». Оригинальные логотипы взяты из репозиториев компаний. QR: https://nedra-npi.ru и https://plus-resurs.com. Формат А5 148 × 210 мм, сторона 2 из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3f8e3d62b44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4c12fe17947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a06a0578e47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59d48959b47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86e2eefd745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fbef0e8b944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FC5971-82BB-4859-9C5E-7A5F8A159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2800" y="2856000"/>
            <a:ext cx="4262400" cy="10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EAAAF0-FAE9-44B8-B422-DBA5F5E6F4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99200" y="4158000"/>
            <a:ext cx="3729600" cy="8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D36469-9B6B-4852-B4D0-D10F77FE1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2800" y="3150000"/>
            <a:ext cx="42624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EF0BC-B810-495E-A12A-B9CB978A0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700" y="588000"/>
            <a:ext cx="472860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EDE727-8995-498B-A62D-96F25EFF2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9700" y="2100000"/>
            <a:ext cx="472860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33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6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9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327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65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99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32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65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9E14DB-6C46-4A43-B853-652DA7A65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700" y="588000"/>
            <a:ext cx="472860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69C807-4C80-4667-82F8-7E68DD129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9700" y="2100000"/>
            <a:ext cx="219780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33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6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9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327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65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99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32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65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1FED9-EF56-4D40-AC0B-81772E552C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830500" y="2100000"/>
            <a:ext cx="219780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33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6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9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327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65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99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32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65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B1C203-4A9E-4DE5-A8B9-0F64C86B5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700" y="588000"/>
            <a:ext cx="472860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E1562-A3A6-4D68-B57E-3186173AB5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9700" y="2100000"/>
            <a:ext cx="219780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33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6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9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327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659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991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323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65500" indent="-99900" algn="l">
              <a:lnSpc>
                <a:spcPct val="110000"/>
              </a:lnSpc>
              <a:spcBef>
                <a:spcPts val="0"/>
              </a:spcBef>
              <a:spcAft>
                <a:spcPts val="524"/>
              </a:spcAft>
              <a:buChar char="•"/>
              <a:defRPr sz="9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548b304c184030" /><Relationship Type="http://schemas.openxmlformats.org/officeDocument/2006/relationships/slideLayout" Target="/ppt/slideLayouts/slideLayout1.xml" Id="R115d95498e97452f" /><Relationship Type="http://schemas.openxmlformats.org/officeDocument/2006/relationships/slideLayout" Target="/ppt/slideLayouts/slideLayout2.xml" Id="Re394a8f291e34302" /><Relationship Type="http://schemas.openxmlformats.org/officeDocument/2006/relationships/slideLayout" Target="/ppt/slideLayouts/slideLayout3.xml" Id="Rfb3390e7b0b04192" /><Relationship Type="http://schemas.openxmlformats.org/officeDocument/2006/relationships/slideLayout" Target="/ppt/slideLayouts/slideLayout4.xml" Id="R40a505704ad74918" /><Relationship Type="http://schemas.openxmlformats.org/officeDocument/2006/relationships/slideLayout" Target="/ppt/slideLayouts/slideLayout5.xml" Id="Rff935d9b66074ef6" /><Relationship Type="http://schemas.openxmlformats.org/officeDocument/2006/relationships/slideLayout" Target="/ppt/slideLayouts/slideLayout6.xml" Id="Rd9907df2ead243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5d95498e97452f"/>
    <p:sldLayoutId xmlns:r="http://schemas.openxmlformats.org/officeDocument/2006/relationships" id="2147483650" r:id="Re394a8f291e34302"/>
    <p:sldLayoutId xmlns:r="http://schemas.openxmlformats.org/officeDocument/2006/relationships" id="2147483651" r:id="Rfb3390e7b0b04192"/>
    <p:sldLayoutId xmlns:r="http://schemas.openxmlformats.org/officeDocument/2006/relationships" id="2147483652" r:id="R40a505704ad74918"/>
    <p:sldLayoutId xmlns:r="http://schemas.openxmlformats.org/officeDocument/2006/relationships" id="2147483653" r:id="Rff935d9b66074ef6"/>
    <p:sldLayoutId xmlns:r="http://schemas.openxmlformats.org/officeDocument/2006/relationships" id="2147483654" r:id="Rd9907df2ead243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56e6ea5814581" /><Relationship Type="http://schemas.openxmlformats.org/officeDocument/2006/relationships/image" Target="/ppt/media/image.png" Id="Rffe6fd3ee8684bfb" /><Relationship Type="http://schemas.openxmlformats.org/officeDocument/2006/relationships/image" Target="/ppt/media/image2.png" Id="Ra4a56bf218fa4ec5" /><Relationship Type="http://schemas.openxmlformats.org/officeDocument/2006/relationships/image" Target="/ppt/media/image3.png" Id="R2f4c7bddf799422c" /><Relationship Type="http://schemas.openxmlformats.org/officeDocument/2006/relationships/notesSlide" Target="/ppt/notesSlides/notesSlide1.xml" Id="Re96005e3e30f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3e0ae3f3e4a9a" /><Relationship Type="http://schemas.openxmlformats.org/officeDocument/2006/relationships/image" Target="/ppt/media/image4.png" Id="R039d95e04f4745a9" /><Relationship Type="http://schemas.openxmlformats.org/officeDocument/2006/relationships/image" Target="/ppt/media/image5.png" Id="R1737056bbe3445a5" /><Relationship Type="http://schemas.openxmlformats.org/officeDocument/2006/relationships/image" Target="/ppt/media/image6.png" Id="Rd8120528d454442d" /><Relationship Type="http://schemas.openxmlformats.org/officeDocument/2006/relationships/image" Target="/ppt/media/image7.png" Id="Re5e6f6d242d24256" /><Relationship Type="http://schemas.openxmlformats.org/officeDocument/2006/relationships/image" Target="/ppt/media/image8.png" Id="Re2c887a6e5dd4d29" /><Relationship Type="http://schemas.openxmlformats.org/officeDocument/2006/relationships/notesSlide" Target="/ppt/notesSlides/notesSlide2.xml" Id="R131dfb2bd8a249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F5072-652E-4EDA-94BD-DD4BD0E4B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6fd3ee8684bfb"/>
          <a:stretch xmlns:a="http://schemas.openxmlformats.org/drawingml/2006/main"/>
        </p:blipFill>
        <p:spPr>
          <a:xfrm xmlns:a="http://schemas.openxmlformats.org/drawingml/2006/main">
            <a:off x="323850" y="229298"/>
            <a:ext cx="762000" cy="465328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64653-DD61-49C1-B970-0B3C8F26FD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56bf218fa4ec5"/>
          <a:stretch xmlns:a="http://schemas.openxmlformats.org/drawingml/2006/main"/>
        </p:blipFill>
        <p:spPr>
          <a:xfrm xmlns:a="http://schemas.openxmlformats.org/drawingml/2006/main">
            <a:off x="2914650" y="381008"/>
            <a:ext cx="2076450" cy="291259"/>
          </a:xfrm>
          <a:prstGeom xmlns:a="http://schemas.openxmlformats.org/drawingml/2006/main" prst="rect">
            <a:avLst/>
          </a:prstGeom>
        </p:spPr>
      </p:pic>
      <p:sp>
        <p:nvSpPr>
          <p:cNvPr id="3" name="ПАРТНЁРСКОЕ ПРЕДЛОЖЕНИЕ ДЛЯ ПРЕДПРИЯТИЙ">
            <a:extLst xmlns:a="http://schemas.openxmlformats.org/drawingml/2006/main">
              <a:ext uri="{FF2B5EF4-FFF2-40B4-BE49-F238E27FC236}">
                <a16:creationId xmlns:a16="http://schemas.microsoft.com/office/drawing/2014/main" id="{75178150-3420-45E0-AB94-24C68BD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048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10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pPr>
            <a:r>
              <a:rPr sz="810" b="1">
                <a:solidFill>
                  <a:srgbClr val="536371"/>
                </a:solidFill>
                <a:latin typeface="Segoe UI"/>
                <a:ea typeface="Segoe UI"/>
                <a:cs typeface="Segoe UI"/>
              </a:rPr>
              <a:t>ПАРТНЁРСКОЕ ПРЕДЛОЖЕНИЕ ДЛЯ ПРЕДПРИЯТИЙ</a:t>
            </a:r>
          </a:p>
        </p:txBody>
      </p:sp>
      <p:sp>
        <p:nvSpPr>
          <p:cNvPr id="4" name="Экспертиза&#10;и безопасность ОПО">
            <a:extLst xmlns:a="http://schemas.openxmlformats.org/drawingml/2006/main">
              <a:ext uri="{FF2B5EF4-FFF2-40B4-BE49-F238E27FC236}">
                <a16:creationId xmlns:a16="http://schemas.microsoft.com/office/drawing/2014/main" id="{252C66FD-3ADF-40FE-BC04-90F6EED5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52525"/>
            <a:ext cx="4695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Экспертиза</a:t>
            </a:r>
          </a:p>
          <a:p xmlns:a="http://schemas.openxmlformats.org/drawingml/2006/main">
            <a:pPr algn="l">
              <a:defRPr sz="2625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и безопасность ОПО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DA73B-3BA3-492B-BF33-D1985C1464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c7bddf799422c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2200275"/>
            <a:ext cx="4680299" cy="1949768"/>
          </a:xfrm>
          <a:prstGeom xmlns:a="http://schemas.openxmlformats.org/drawingml/2006/main" prst="rect">
            <a:avLst/>
          </a:prstGeom>
        </p:spPr>
      </p:pic>
      <p:sp>
        <p:nvSpPr>
          <p:cNvPr id="6" name="УСЛУГИ НПИ «НЕДРА» НА СПЕЦИАЛЬНЫХ УСЛОВИЯХ">
            <a:extLst xmlns:a="http://schemas.openxmlformats.org/drawingml/2006/main">
              <a:ext uri="{FF2B5EF4-FFF2-40B4-BE49-F238E27FC236}">
                <a16:creationId xmlns:a16="http://schemas.microsoft.com/office/drawing/2014/main" id="{74F730EA-F2EA-4B9A-8313-F78621C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52925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536371"/>
                </a:solidFill>
                <a:latin typeface="Segoe UI"/>
                <a:ea typeface="Segoe UI"/>
                <a:cs typeface="Segoe UI"/>
              </a:rPr>
              <a:t>УСЛУГИ НПИ «НЕДРА» НА СПЕЦИАЛЬНЫХ УСЛОВИЯХ</a:t>
            </a:r>
          </a:p>
        </p:txBody>
      </p:sp>
      <p:sp>
        <p:nvSpPr>
          <p:cNvPr id="7" name="Экспертиза проектов технического&#10;перевооружения, к">
            <a:extLst xmlns:a="http://schemas.openxmlformats.org/drawingml/2006/main">
              <a:ext uri="{FF2B5EF4-FFF2-40B4-BE49-F238E27FC236}">
                <a16:creationId xmlns:a16="http://schemas.microsoft.com/office/drawing/2014/main" id="{5F48AB42-BDCE-414E-B4EA-94EEA81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577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Экспертиза проектов технического</a:t>
            </a:r>
          </a:p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перевооружения, консервации</a:t>
            </a:r>
          </a:p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и ликвидации</a:t>
            </a:r>
          </a:p>
        </p:txBody>
      </p:sp>
      <p:sp>
        <p:nvSpPr>
          <p:cNvPr id="8" name="10 000 ₽">
            <a:extLst xmlns:a="http://schemas.openxmlformats.org/drawingml/2006/main">
              <a:ext uri="{FF2B5EF4-FFF2-40B4-BE49-F238E27FC236}">
                <a16:creationId xmlns:a16="http://schemas.microsoft.com/office/drawing/2014/main" id="{879F71E3-1D28-452A-929B-908EB937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76775"/>
            <a:ext cx="1352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10 000 ₽</a:t>
            </a:r>
          </a:p>
        </p:txBody>
      </p:sp>
      <p:sp>
        <p:nvSpPr>
          <p:cNvPr id="9" name="Разработка обоснований&#10;безопасности">
            <a:extLst xmlns:a="http://schemas.openxmlformats.org/drawingml/2006/main">
              <a:ext uri="{FF2B5EF4-FFF2-40B4-BE49-F238E27FC236}">
                <a16:creationId xmlns:a16="http://schemas.microsoft.com/office/drawing/2014/main" id="{DA38307E-0C9C-4F61-85C8-C7D72820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3911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Разработка обоснований</a:t>
            </a:r>
          </a:p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безопасности</a:t>
            </a:r>
          </a:p>
        </p:txBody>
      </p:sp>
      <p:sp>
        <p:nvSpPr>
          <p:cNvPr id="10" name="100 000 ₽">
            <a:extLst xmlns:a="http://schemas.openxmlformats.org/drawingml/2006/main">
              <a:ext uri="{FF2B5EF4-FFF2-40B4-BE49-F238E27FC236}">
                <a16:creationId xmlns:a16="http://schemas.microsoft.com/office/drawing/2014/main" id="{E572BC52-C239-4265-8894-993A889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8162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100 000 ₽</a:t>
            </a:r>
          </a:p>
        </p:txBody>
      </p:sp>
      <p:sp>
        <p:nvSpPr>
          <p:cNvPr id="11" name="Экспертиза обоснований&#10;безопасности">
            <a:extLst xmlns:a="http://schemas.openxmlformats.org/drawingml/2006/main">
              <a:ext uri="{FF2B5EF4-FFF2-40B4-BE49-F238E27FC236}">
                <a16:creationId xmlns:a16="http://schemas.microsoft.com/office/drawing/2014/main" id="{E7F69B6E-29C7-4957-BE95-36D9088E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007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Экспертиза обоснований</a:t>
            </a:r>
          </a:p>
          <a:p xmlns:a="http://schemas.openxmlformats.org/drawingml/2006/main">
            <a:pPr algn="l">
              <a:defRPr sz="112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безопасности</a:t>
            </a:r>
          </a:p>
        </p:txBody>
      </p:sp>
      <p:sp>
        <p:nvSpPr>
          <p:cNvPr id="12" name="100 000 ₽">
            <a:extLst xmlns:a="http://schemas.openxmlformats.org/drawingml/2006/main">
              <a:ext uri="{FF2B5EF4-FFF2-40B4-BE49-F238E27FC236}">
                <a16:creationId xmlns:a16="http://schemas.microsoft.com/office/drawing/2014/main" id="{0F1C3C81-7E68-4702-8DDC-CC0F7FA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9122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2025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100 000 ₽</a:t>
            </a:r>
          </a:p>
        </p:txBody>
      </p:sp>
      <p:sp>
        <p:nvSpPr>
          <p:cNvPr id="13" name="Условие бартера">
            <a:extLst xmlns:a="http://schemas.openxmlformats.org/drawingml/2006/main">
              <a:ext uri="{FF2B5EF4-FFF2-40B4-BE49-F238E27FC236}">
                <a16:creationId xmlns:a16="http://schemas.microsoft.com/office/drawing/2014/main" id="{DB59A725-A7AE-4170-967A-12CEFDC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696075"/>
            <a:ext cx="466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Условие бартера</a:t>
            </a:r>
          </a:p>
        </p:txBody>
      </p:sp>
      <p:sp>
        <p:nvSpPr>
          <p:cNvPr id="14" name="Ваше предприятие размещает закупки на Ресурс-Плюс.">
            <a:extLst xmlns:a="http://schemas.openxmlformats.org/drawingml/2006/main">
              <a:ext uri="{FF2B5EF4-FFF2-40B4-BE49-F238E27FC236}">
                <a16:creationId xmlns:a16="http://schemas.microsoft.com/office/drawing/2014/main" id="{355A5A27-52B2-4264-81A0-B6F722E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962775"/>
            <a:ext cx="466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90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Ваше предприятие размещает закупки на Ресурс-Плюс.</a:t>
            </a:r>
          </a:p>
          <a:p xmlns:a="http://schemas.openxmlformats.org/drawingml/2006/main">
            <a:pPr algn="l">
              <a:defRPr sz="990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90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Размещение для заказчика бесплатно.</a:t>
            </a:r>
          </a:p>
        </p:txBody>
      </p:sp>
    </p:spTree>
    <p:extLst>
      <p:ext uri="{BB962C8B-B14F-4D97-AF65-F5344CB8AC3E}">
        <p14:creationId xmlns:p14="http://schemas.microsoft.com/office/powerpoint/2010/main" val="927350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41371C-2A4E-4BE2-B436-B7FAC37E4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d95e04f4745a9"/>
          <a:stretch xmlns:a="http://schemas.openxmlformats.org/drawingml/2006/main"/>
        </p:blipFill>
        <p:spPr>
          <a:xfrm xmlns:a="http://schemas.openxmlformats.org/drawingml/2006/main">
            <a:off x="323850" y="229298"/>
            <a:ext cx="762000" cy="465328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85043-8D4C-4C4C-BCC4-EDF31A9D4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7056bbe3445a5"/>
          <a:stretch xmlns:a="http://schemas.openxmlformats.org/drawingml/2006/main"/>
        </p:blipFill>
        <p:spPr>
          <a:xfrm xmlns:a="http://schemas.openxmlformats.org/drawingml/2006/main">
            <a:off x="2914650" y="381008"/>
            <a:ext cx="2076450" cy="291259"/>
          </a:xfrm>
          <a:prstGeom xmlns:a="http://schemas.openxmlformats.org/drawingml/2006/main" prst="rect">
            <a:avLst/>
          </a:prstGeom>
        </p:spPr>
      </p:pic>
      <p:sp>
        <p:nvSpPr>
          <p:cNvPr id="3" name="Закупки на Ресурс-Плюс">
            <a:extLst xmlns:a="http://schemas.openxmlformats.org/drawingml/2006/main">
              <a:ext uri="{FF2B5EF4-FFF2-40B4-BE49-F238E27FC236}">
                <a16:creationId xmlns:a16="http://schemas.microsoft.com/office/drawing/2014/main" id="{14307138-38F2-469C-8A92-47213119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334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Закупки на Ресурс-Плюс</a:t>
            </a:r>
          </a:p>
        </p:txBody>
      </p:sp>
      <p:sp>
        <p:nvSpPr>
          <p:cNvPr id="4" name="В обмен на специальные условия НПИ «Недра»&#10;предпри">
            <a:extLst xmlns:a="http://schemas.openxmlformats.org/drawingml/2006/main">
              <a:ext uri="{FF2B5EF4-FFF2-40B4-BE49-F238E27FC236}">
                <a16:creationId xmlns:a16="http://schemas.microsoft.com/office/drawing/2014/main" id="{72E31716-859C-45A1-A341-AF7D824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09700"/>
            <a:ext cx="4667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98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В обмен на специальные условия НПИ «Недра»</a:t>
            </a:r>
          </a:p>
          <a:p xmlns:a="http://schemas.openxmlformats.org/drawingml/2006/main">
            <a: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98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предприятие размещает свои закупки на нашей площадке,</a:t>
            </a:r>
          </a:p>
          <a:p xmlns:a="http://schemas.openxmlformats.org/drawingml/2006/main">
            <a:pPr algn="l">
              <a:defRPr sz="998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98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в том числе дублирует их с других тендерных площадок.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8B281-8130-4DAA-A5D4-E91644671D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20528d454442d"/>
          <a:srcRect xmlns:a="http://schemas.openxmlformats.org/drawingml/2006/main" l="0" t="19467" r="0" b="19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2133600"/>
            <a:ext cx="4680299" cy="1190625"/>
          </a:xfrm>
          <a:prstGeom xmlns:a="http://schemas.openxmlformats.org/drawingml/2006/main" prst="rect">
            <a:avLst/>
          </a:prstGeom>
        </p:spPr>
      </p:pic>
      <p:sp>
        <p:nvSpPr>
          <p:cNvPr id="6" name="Какие закупки можно разместить">
            <a:extLst xmlns:a="http://schemas.openxmlformats.org/drawingml/2006/main">
              <a:ext uri="{FF2B5EF4-FFF2-40B4-BE49-F238E27FC236}">
                <a16:creationId xmlns:a16="http://schemas.microsoft.com/office/drawing/2014/main" id="{804B683D-5649-4E54-8C24-D43547C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5147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Какие закупки можно разместить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D1DE298-67A4-4492-A439-FFE4869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95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Проектирование промышленных и гражданских объектов">
            <a:extLst xmlns:a="http://schemas.openxmlformats.org/drawingml/2006/main">
              <a:ext uri="{FF2B5EF4-FFF2-40B4-BE49-F238E27FC236}">
                <a16:creationId xmlns:a16="http://schemas.microsoft.com/office/drawing/2014/main" id="{DB96A728-991F-4F5F-BEA4-F69D810C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Проектирование промышленных и гражданских объектов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ECA1D4D5-C593-4A31-8042-DE1C8A87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8147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Экспертиза промышленной безопасности проектов,&#10;тех">
            <a:extLst xmlns:a="http://schemas.openxmlformats.org/drawingml/2006/main">
              <a:ext uri="{FF2B5EF4-FFF2-40B4-BE49-F238E27FC236}">
                <a16:creationId xmlns:a16="http://schemas.microsoft.com/office/drawing/2014/main" id="{ED1252F8-20BF-4CD1-A87A-B5AF673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352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Экспертиза промышленной безопасности проектов,</a:t>
            </a:r>
          </a:p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технических устройств, зданий и сооружений,</a:t>
            </a:r>
          </a:p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деклараций и обоснований безопасности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5D074F7D-D492-4B22-B670-40713CB8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7720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Инженерные изыскания">
            <a:extLst xmlns:a="http://schemas.openxmlformats.org/drawingml/2006/main">
              <a:ext uri="{FF2B5EF4-FFF2-40B4-BE49-F238E27FC236}">
                <a16:creationId xmlns:a16="http://schemas.microsoft.com/office/drawing/2014/main" id="{9DD6D0E5-AD13-4B73-952C-837325A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Инженерные изыскания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BC7F3A9D-9FFA-425B-A7BB-762BADA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29200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Строительный контроль">
            <a:extLst xmlns:a="http://schemas.openxmlformats.org/drawingml/2006/main">
              <a:ext uri="{FF2B5EF4-FFF2-40B4-BE49-F238E27FC236}">
                <a16:creationId xmlns:a16="http://schemas.microsoft.com/office/drawing/2014/main" id="{BD98977D-6CE8-48DD-B8A1-201D1A81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Строительный контроль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90D34350-6BC2-4A7D-B1DA-AA86083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6" name="Аудит">
            <a:extLst xmlns:a="http://schemas.openxmlformats.org/drawingml/2006/main">
              <a:ext uri="{FF2B5EF4-FFF2-40B4-BE49-F238E27FC236}">
                <a16:creationId xmlns:a16="http://schemas.microsoft.com/office/drawing/2014/main" id="{42624656-61F9-4CB1-B639-99EFE423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Аудит</a:t>
            </a:r>
          </a:p>
        </p:txBody>
      </p:sp>
      <p:sp>
        <p:nvSpPr>
          <p:cNvPr id="17" name="06">
            <a:extLst xmlns:a="http://schemas.openxmlformats.org/drawingml/2006/main">
              <a:ext uri="{FF2B5EF4-FFF2-40B4-BE49-F238E27FC236}">
                <a16:creationId xmlns:a16="http://schemas.microsoft.com/office/drawing/2014/main" id="{3CE10C6F-2D9A-4CB2-AA27-0284EDB6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43550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8" name="Экологическое сопровождение предприятий">
            <a:extLst xmlns:a="http://schemas.openxmlformats.org/drawingml/2006/main">
              <a:ext uri="{FF2B5EF4-FFF2-40B4-BE49-F238E27FC236}">
                <a16:creationId xmlns:a16="http://schemas.microsoft.com/office/drawing/2014/main" id="{526E3FF1-7136-4350-9642-A85E1484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Экологическое сопровождение предприятий</a:t>
            </a:r>
          </a:p>
        </p:txBody>
      </p:sp>
      <p:sp>
        <p:nvSpPr>
          <p:cNvPr id="19" name="07">
            <a:extLst xmlns:a="http://schemas.openxmlformats.org/drawingml/2006/main">
              <a:ext uri="{FF2B5EF4-FFF2-40B4-BE49-F238E27FC236}">
                <a16:creationId xmlns:a16="http://schemas.microsoft.com/office/drawing/2014/main" id="{F2E39E92-3EF3-4680-926C-453AAD1C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800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20" name="НИР и лабораторные исследования">
            <a:extLst xmlns:a="http://schemas.openxmlformats.org/drawingml/2006/main">
              <a:ext uri="{FF2B5EF4-FFF2-40B4-BE49-F238E27FC236}">
                <a16:creationId xmlns:a16="http://schemas.microsoft.com/office/drawing/2014/main" id="{B98D8DA3-AC9F-4ECF-A62D-EB8B93AA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НИР и лабораторные исследования</a:t>
            </a:r>
          </a:p>
        </p:txBody>
      </p:sp>
      <p:sp>
        <p:nvSpPr>
          <p:cNvPr id="21" name="08">
            <a:extLst xmlns:a="http://schemas.openxmlformats.org/drawingml/2006/main">
              <a:ext uri="{FF2B5EF4-FFF2-40B4-BE49-F238E27FC236}">
                <a16:creationId xmlns:a16="http://schemas.microsoft.com/office/drawing/2014/main" id="{5694010D-1F09-49E3-94BA-0EFC982F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057900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63" b="1">
                <a:solidFill>
                  <a:srgbClr val="CB6500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CB650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22" name="Техническое освидетельствование и диагностирование">
            <a:extLst xmlns:a="http://schemas.openxmlformats.org/drawingml/2006/main">
              <a:ext uri="{FF2B5EF4-FFF2-40B4-BE49-F238E27FC236}">
                <a16:creationId xmlns:a16="http://schemas.microsoft.com/office/drawing/2014/main" id="{9162C278-488E-4980-912C-93E257FA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435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45" b="0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945" b="0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Техническое освидетельствование и диагностирование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BFF4-D537-4836-BC3D-C26844ED1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6f6d242d24256"/>
          <a:stretch xmlns:a="http://schemas.openxmlformats.org/drawingml/2006/main"/>
        </p:blipFill>
        <p:spPr>
          <a:xfrm xmlns:a="http://schemas.openxmlformats.org/drawingml/2006/main">
            <a:off x="295275" y="64770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4" name="НПИ «Недра»">
            <a:extLst xmlns:a="http://schemas.openxmlformats.org/drawingml/2006/main">
              <a:ext uri="{FF2B5EF4-FFF2-40B4-BE49-F238E27FC236}">
                <a16:creationId xmlns:a16="http://schemas.microsoft.com/office/drawing/2014/main" id="{842E5D0A-CA6B-4881-BD72-FDD45F3B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61035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НПИ «Недра»</a:t>
            </a:r>
          </a:p>
        </p:txBody>
      </p:sp>
      <p:sp>
        <p:nvSpPr>
          <p:cNvPr id="25" name="nedra-npi.ru">
            <a:extLst xmlns:a="http://schemas.openxmlformats.org/drawingml/2006/main">
              <a:ext uri="{FF2B5EF4-FFF2-40B4-BE49-F238E27FC236}">
                <a16:creationId xmlns:a16="http://schemas.microsoft.com/office/drawing/2014/main" id="{3F793941-214C-4B1C-B060-8F3C5B4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896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36371"/>
                </a:solidFill>
                <a:latin typeface="Segoe UI"/>
                <a:ea typeface="Segoe UI"/>
                <a:cs typeface="Segoe UI"/>
              </a:rPr>
              <a:t>nedra-npi.ru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46D7F-1006-45EE-85BB-40830DDB8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887a6e5dd4d29"/>
          <a:stretch xmlns:a="http://schemas.openxmlformats.org/drawingml/2006/main"/>
        </p:blipFill>
        <p:spPr>
          <a:xfrm xmlns:a="http://schemas.openxmlformats.org/drawingml/2006/main">
            <a:off x="2724150" y="64770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7" name="Ресурс-Плюс">
            <a:extLst xmlns:a="http://schemas.openxmlformats.org/drawingml/2006/main">
              <a:ext uri="{FF2B5EF4-FFF2-40B4-BE49-F238E27FC236}">
                <a16:creationId xmlns:a16="http://schemas.microsoft.com/office/drawing/2014/main" id="{EA64F67D-D445-4773-ADC3-0AF77E3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610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82B3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82B3A"/>
                </a:solidFill>
                <a:latin typeface="Segoe UI"/>
                <a:ea typeface="Segoe UI"/>
                <a:cs typeface="Segoe UI"/>
              </a:rPr>
              <a:t>Ресурс-Плюс</a:t>
            </a:r>
          </a:p>
        </p:txBody>
      </p:sp>
      <p:sp>
        <p:nvSpPr>
          <p:cNvPr id="28" name="plus-resurs.com">
            <a:extLst xmlns:a="http://schemas.openxmlformats.org/drawingml/2006/main">
              <a:ext uri="{FF2B5EF4-FFF2-40B4-BE49-F238E27FC236}">
                <a16:creationId xmlns:a16="http://schemas.microsoft.com/office/drawing/2014/main" id="{000CA22F-CA95-4831-BCF2-7BBD7E5A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896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371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36371"/>
                </a:solidFill>
                <a:latin typeface="Segoe UI"/>
                <a:ea typeface="Segoe UI"/>
                <a:cs typeface="Segoe UI"/>
              </a:rPr>
              <a:t>plus-resurs.com</a:t>
            </a:r>
          </a:p>
        </p:txBody>
      </p:sp>
    </p:spTree>
    <p:extLst>
      <p:ext uri="{BB962C8B-B14F-4D97-AF65-F5344CB8AC3E}">
        <p14:creationId xmlns:p14="http://schemas.microsoft.com/office/powerpoint/2010/main" val="553945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2026-10-21T09:17:38.6770000Z</dcterms:created>
  <dcterms:modified xsi:type="dcterms:W3CDTF">2026-10-21T09:17:38.6770000Z</dcterms:modified>
</coreProperties>
</file>